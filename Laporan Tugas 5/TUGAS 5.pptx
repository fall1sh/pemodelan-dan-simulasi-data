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6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2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1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3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5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4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4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97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4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5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78000" y="1550184"/>
            <a:ext cx="9748001" cy="3757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ct val="115000"/>
              </a:lnSpc>
              <a:spcAft>
                <a:spcPts val="533"/>
              </a:spcAft>
            </a:pP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Objective:</a:t>
            </a:r>
            <a:endParaRPr lang="en-ID" sz="2400" kern="100" dirty="0">
              <a:solidFill>
                <a:prstClr val="white"/>
              </a:solidFill>
              <a:latin typeface="Aptos"/>
              <a:ea typeface="Aptos"/>
              <a:cs typeface="Times New Roman" panose="02020603050405020304" pitchFamily="18" charset="0"/>
            </a:endParaRPr>
          </a:p>
          <a:p>
            <a:pPr marL="228611" indent="-228611" defTabSz="609630">
              <a:lnSpc>
                <a:spcPct val="115000"/>
              </a:lnSpc>
              <a:spcAft>
                <a:spcPts val="533"/>
              </a:spcAft>
              <a:buSzPts val="1000"/>
              <a:buFont typeface="Symbol" panose="05050102010706020507" pitchFamily="18" charset="2"/>
              <a:buChar char=""/>
              <a:tabLst>
                <a:tab pos="304815" algn="l"/>
              </a:tabLst>
            </a:pP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Modify the </a:t>
            </a: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heat transfer simulation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 and </a:t>
            </a:r>
            <a:r>
              <a:rPr lang="en-ID" sz="2400" kern="100" dirty="0" err="1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analyze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 different scenarios.</a:t>
            </a:r>
          </a:p>
          <a:p>
            <a:pPr defTabSz="609630">
              <a:lnSpc>
                <a:spcPct val="115000"/>
              </a:lnSpc>
              <a:spcAft>
                <a:spcPts val="533"/>
              </a:spcAft>
            </a:pP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Tasks:</a:t>
            </a:r>
            <a:endParaRPr lang="en-ID" sz="2400" kern="100" dirty="0">
              <a:solidFill>
                <a:prstClr val="white"/>
              </a:solidFill>
              <a:latin typeface="Aptos"/>
              <a:ea typeface="Aptos"/>
              <a:cs typeface="Times New Roman" panose="02020603050405020304" pitchFamily="18" charset="0"/>
            </a:endParaRPr>
          </a:p>
          <a:p>
            <a:pPr marL="228611" indent="-228611" defTabSz="609630">
              <a:lnSpc>
                <a:spcPct val="115000"/>
              </a:lnSpc>
              <a:spcAft>
                <a:spcPts val="533"/>
              </a:spcAft>
              <a:buFont typeface="+mj-lt"/>
              <a:buAutoNum type="arabicPeriod"/>
              <a:tabLst>
                <a:tab pos="304815" algn="l"/>
              </a:tabLst>
            </a:pP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Change the cooling rate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 and observe the effect on temperature decay.</a:t>
            </a:r>
          </a:p>
          <a:p>
            <a:pPr marL="228611" indent="-228611" defTabSz="609630">
              <a:lnSpc>
                <a:spcPct val="115000"/>
              </a:lnSpc>
              <a:spcAft>
                <a:spcPts val="533"/>
              </a:spcAft>
              <a:buFont typeface="+mj-lt"/>
              <a:buAutoNum type="arabicPeriod"/>
              <a:tabLst>
                <a:tab pos="304815" algn="l"/>
              </a:tabLst>
            </a:pP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Simulate heating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 instead of cooling (modify differential equation).</a:t>
            </a:r>
          </a:p>
          <a:p>
            <a:pPr marL="228611" indent="-228611" defTabSz="609630">
              <a:lnSpc>
                <a:spcPct val="115000"/>
              </a:lnSpc>
              <a:spcAft>
                <a:spcPts val="533"/>
              </a:spcAft>
              <a:buFont typeface="+mj-lt"/>
              <a:buAutoNum type="arabicPeriod"/>
              <a:tabLst>
                <a:tab pos="304815" algn="l"/>
              </a:tabLst>
            </a:pP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Use a real-world dataset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 from </a:t>
            </a: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Kaggle (e.g., weather data)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 to simulate </a:t>
            </a: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continuous temperature changes</a:t>
            </a:r>
            <a:r>
              <a:rPr lang="en-ID" sz="2400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.</a:t>
            </a:r>
          </a:p>
          <a:p>
            <a:pPr marL="228611" indent="-228611" defTabSz="609630">
              <a:lnSpc>
                <a:spcPct val="115000"/>
              </a:lnSpc>
              <a:spcAft>
                <a:spcPts val="533"/>
              </a:spcAft>
              <a:buFont typeface="+mj-lt"/>
              <a:buAutoNum type="arabicPeriod"/>
              <a:tabLst>
                <a:tab pos="304815" algn="l"/>
              </a:tabLst>
            </a:pPr>
            <a:r>
              <a:rPr lang="en-ID" sz="2400" b="1" kern="100" dirty="0">
                <a:solidFill>
                  <a:prstClr val="white"/>
                </a:solidFill>
                <a:latin typeface="Aptos"/>
                <a:ea typeface="Aptos"/>
                <a:cs typeface="Times New Roman" panose="02020603050405020304" pitchFamily="18" charset="0"/>
              </a:rPr>
              <a:t>Compare CES vs. DES for similar systems.</a:t>
            </a:r>
            <a:endParaRPr lang="en-ID" sz="2400" kern="100" dirty="0">
              <a:solidFill>
                <a:prstClr val="white"/>
              </a:solidFill>
              <a:latin typeface="Aptos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78000" y="260853"/>
            <a:ext cx="10255250" cy="9560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8320"/>
              </a:lnSpc>
              <a:defRPr/>
            </a:pPr>
            <a:r>
              <a:rPr lang="en-US" sz="5400" b="1" dirty="0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ASSIGNMENT FOR STUDENTS 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-1292076" y="4041885"/>
            <a:ext cx="4108345" cy="152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06"/>
              </a:lnSpc>
              <a:defRPr/>
            </a:pPr>
            <a:r>
              <a:rPr lang="en-US" sz="933" spc="3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INFORMATICS, UNIVERSITY MUHAMMADIYAH OF MALANG</a:t>
            </a:r>
          </a:p>
        </p:txBody>
      </p:sp>
      <p:sp>
        <p:nvSpPr>
          <p:cNvPr id="5" name="AutoShape 5"/>
          <p:cNvSpPr/>
          <p:nvPr/>
        </p:nvSpPr>
        <p:spPr>
          <a:xfrm>
            <a:off x="1499166" y="-72274"/>
            <a:ext cx="6350" cy="70025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AutoShape 6"/>
          <p:cNvSpPr/>
          <p:nvPr/>
        </p:nvSpPr>
        <p:spPr>
          <a:xfrm>
            <a:off x="1505516" y="6038850"/>
            <a:ext cx="12192000" cy="63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Freeform 7"/>
          <p:cNvSpPr/>
          <p:nvPr/>
        </p:nvSpPr>
        <p:spPr>
          <a:xfrm>
            <a:off x="622300" y="685800"/>
            <a:ext cx="302169" cy="302169"/>
          </a:xfrm>
          <a:custGeom>
            <a:avLst/>
            <a:gdLst/>
            <a:ahLst/>
            <a:cxnLst/>
            <a:rect l="l" t="t" r="r" b="b"/>
            <a:pathLst>
              <a:path w="453254" h="453254">
                <a:moveTo>
                  <a:pt x="0" y="0"/>
                </a:moveTo>
                <a:lnTo>
                  <a:pt x="453254" y="0"/>
                </a:lnTo>
                <a:lnTo>
                  <a:pt x="453254" y="453254"/>
                </a:lnTo>
                <a:lnTo>
                  <a:pt x="0" y="453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344396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Big Shoulders Display Bold</vt:lpstr>
      <vt:lpstr>Calibri</vt:lpstr>
      <vt:lpstr>Lato</vt:lpstr>
      <vt:lpstr>Symbol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2025-04-09T02:42:54Z</dcterms:created>
  <dcterms:modified xsi:type="dcterms:W3CDTF">2025-04-09T02:44:23Z</dcterms:modified>
</cp:coreProperties>
</file>